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26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0000" y="108000"/>
            <a:ext cx="54000" cy="324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68000" y="108000"/>
            <a:ext cx="54000" cy="324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000" y="180000"/>
            <a:ext cx="54000" cy="251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25999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UNIVERSITAS MUHAMMADIYAH MAKASSAR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24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Segoe UI"/>
              </a:rPr>
              <a:t>Fakultas Teknik | Program Studi Informatika | Semester VI RPL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0000" y="792000"/>
            <a:ext cx="2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Segoe UI"/>
              </a:rPr>
              <a:t>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620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BLOOM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268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4C759"/>
                </a:solidFill>
                <a:latin typeface="Segoe UI"/>
              </a:rPr>
              <a:t>Toko Bunga Premium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0" y="2731260"/>
            <a:ext cx="5760000" cy="1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0000" y="2772000"/>
            <a:ext cx="1075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Segoe UI"/>
              </a:rPr>
              <a:t>Laporan Proyek UTS — Advanced Software Testing and Quality Assurance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2988000"/>
            <a:ext cx="1075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  <a:latin typeface="Segoe UI"/>
              </a:rPr>
              <a:t>Tahun Ajaran 2025–2026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420000"/>
            <a:ext cx="12193200" cy="1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3438000"/>
            <a:ext cx="12193200" cy="720000"/>
          </a:xfrm>
          <a:prstGeom prst="rect">
            <a:avLst/>
          </a:prstGeom>
          <a:solidFill>
            <a:srgbClr val="0F2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0000" y="3474000"/>
            <a:ext cx="11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egoe UI"/>
              </a:rPr>
              <a:t>Tim Pengembang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3671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Ashabul Kahfi (105841108523)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0000" y="3671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Marhepi Rahmadani (105841109523)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0" y="3671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Afra Muawiya (105841108423)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0000" y="3671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Alyah Saputri Bakri (105841107723)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C759"/>
                </a:solidFill>
                <a:latin typeface="Segoe UI"/>
              </a:rPr>
              <a:t>BAB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PENDAHULUAN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420000"/>
            <a:ext cx="7200000" cy="18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Segoe UI"/>
              </a:rPr>
              <a:t>Latar Belakang · Rumusan · Tujuan · Batasan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 — 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Latar Belakang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48000"/>
            <a:ext cx="1147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Pengujian perangkat lunak modern tidak hanya dilakukan setelah aplikasi selesai. Pengujian perlu direncanakan sejak analisis kebutuhan, perancangan, hingga aplikasi siap digunakan.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260000"/>
            <a:ext cx="5400000" cy="1152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0000" y="1260000"/>
            <a:ext cx="90000" cy="1152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0000" y="1368000"/>
            <a:ext cx="50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D1D1F"/>
                </a:solidFill>
                <a:latin typeface="Segoe UI"/>
              </a:rPr>
              <a:t>Test-First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1655999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egoe UI"/>
              </a:rPr>
              <a:t>Menulis unit test sebelum implementasi memastikan setiap fungsi benar sejak awal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0000" y="1260000"/>
            <a:ext cx="5400000" cy="1152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0000" y="1260000"/>
            <a:ext cx="90000" cy="1152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0000" y="1368000"/>
            <a:ext cx="50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D1D1F"/>
                </a:solidFill>
                <a:latin typeface="Segoe UI"/>
              </a:rPr>
              <a:t>Continuous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1655999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egoe UI"/>
              </a:rPr>
              <a:t>Pengujian dilakukan di setiap fase pengembangan secara sistematis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628000"/>
            <a:ext cx="5400000" cy="1152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0000" y="2628000"/>
            <a:ext cx="90000" cy="1152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000" y="2736000"/>
            <a:ext cx="50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D1D1F"/>
                </a:solidFill>
                <a:latin typeface="Segoe UI"/>
              </a:rPr>
              <a:t>Test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024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egoe UI"/>
              </a:rPr>
              <a:t>Otomatisasi pengujian UI dan API mengurangi human error dan mempercepat validasi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0000" y="2628000"/>
            <a:ext cx="5400000" cy="1152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0000" y="2628000"/>
            <a:ext cx="90000" cy="1152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0000" y="2736000"/>
            <a:ext cx="50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D1D1F"/>
                </a:solidFill>
                <a:latin typeface="Segoe UI"/>
              </a:rPr>
              <a:t>Quality Assurance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000" y="3024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egoe UI"/>
              </a:rPr>
              <a:t>QA bukan hanya testing — meliputi analisis defect, evaluasi, dan rekomendasi perbaikan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 — 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Rumusan Masalah &amp; Tujuan Proyek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648000"/>
            <a:ext cx="5580000" cy="36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648000"/>
            <a:ext cx="5580000" cy="180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000" y="629999"/>
            <a:ext cx="5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1" i="0" dirty="0">
                <a:solidFill>
                  <a:srgbClr val="FFFFFF"/>
                </a:solidFill>
                <a:latin typeface="Segoe UI"/>
              </a:rPr>
              <a:t>R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UMUSAN MASALAH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900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1. Bagaimana menerapkan TDD untuk mengembangkan fungsi bisnis?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2. Bagaimana mendefinisikan perilaku aplikasi menggunakan BDD?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3. Bagaimana merancang pengujian black-box dan white-box?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4. Bagaimana membangun otomatisasi pengujian UI dengan POM?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5. Bagaimana melakukan otomatisasi pengujian RESTful API?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648000"/>
            <a:ext cx="5580000" cy="36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0000" y="648000"/>
            <a:ext cx="5580000" cy="180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0000" y="629999"/>
            <a:ext cx="5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Segoe UI"/>
              </a:rPr>
              <a:t> TUJUAN PROYEK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000" y="900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1. Menganalisis kebutuhan dan proses bisnis aplikasi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2. Menerapkan TDD dalam pengembangan fungsi aplikasi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3. Menulis spesifikasi BDD menggunakan sintaks Gherkin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4. Merancang pengujian Black-box (State Transition)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5. Melakukan analisis White-box (Cyclomatic Complexity)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6. Membangun otomatisasi UI dengan Cypress + POM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7. Membangun otomatisasi API (18 test cases)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 — 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Batasan Proyek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5580000" cy="9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720000"/>
            <a:ext cx="5580000" cy="144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000" y="683999"/>
            <a:ext cx="54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Segoe UI"/>
              </a:rPr>
              <a:t>🏪  Tema Aplikasi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917999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egoe UI"/>
              </a:rPr>
              <a:t>Toko bunga online (Bloom Store) dengan 9 produk bunga premium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720000"/>
            <a:ext cx="5580000" cy="9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0000" y="720000"/>
            <a:ext cx="5580000" cy="144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3588" y="683091"/>
            <a:ext cx="54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Segoe UI"/>
              </a:rPr>
              <a:t>👤  Aktor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000" y="917999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egoe UI"/>
              </a:rPr>
              <a:t>Customer (register/login) dan Admin (panel terpisah dengan 3-factor auth)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1728000"/>
            <a:ext cx="5580000" cy="9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0000" y="1728000"/>
            <a:ext cx="5580000" cy="144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4019" y="1674001"/>
            <a:ext cx="54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Segoe UI"/>
              </a:rPr>
              <a:t>🔧  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" y="1925999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D1D1F"/>
                </a:solidFill>
                <a:latin typeface="Segoe UI"/>
              </a:rPr>
              <a:t>Next.js 16 + TypeScript + Tailwind v4 + Prisma + SQLite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1728000"/>
            <a:ext cx="5580000" cy="9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0000" y="1728000"/>
            <a:ext cx="5580000" cy="144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1999" y="1683001"/>
            <a:ext cx="54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Segoe UI"/>
              </a:rPr>
              <a:t>🧪  </a:t>
            </a:r>
            <a:r>
              <a:rPr sz="1000" b="1" i="0" dirty="0" err="1">
                <a:solidFill>
                  <a:srgbClr val="FFFFFF"/>
                </a:solidFill>
                <a:latin typeface="Segoe UI"/>
              </a:rPr>
              <a:t>Cakupan</a:t>
            </a:r>
            <a:r>
              <a:rPr sz="1000" b="1" i="0" dirty="0">
                <a:solidFill>
                  <a:srgbClr val="FFFFFF"/>
                </a:solidFill>
                <a:latin typeface="Segoe UI"/>
              </a:rPr>
              <a:t>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8000" y="1925999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egoe UI"/>
              </a:rPr>
              <a:t>TDD, BDD, Black-box, White-box, Cypress UI (16 TC), API (18 TC)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2736000"/>
            <a:ext cx="5580000" cy="9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0000" y="2736000"/>
            <a:ext cx="5580000" cy="144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4019" y="2691000"/>
            <a:ext cx="54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Segoe UI"/>
              </a:rPr>
              <a:t>🌐 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000" y="2934000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D1D1F"/>
                </a:solidFill>
                <a:latin typeface="Segoe UI"/>
              </a:rPr>
              <a:t>Oracle Cloud + Nginx + PM2 +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DuckDNS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(bloom-store.duckdns.org)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000" y="2736000"/>
            <a:ext cx="5580000" cy="9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0000" y="2736000"/>
            <a:ext cx="5580000" cy="144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1999" y="2692568"/>
            <a:ext cx="54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Segoe UI"/>
              </a:rPr>
              <a:t>💾 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8000" y="2934000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egoe UI"/>
              </a:rPr>
              <a:t>SQLite (local) — tidak menggunakan database cloud/eksternal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C759"/>
                </a:solidFill>
                <a:latin typeface="Segoe UI"/>
              </a:rPr>
              <a:t>BAB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ANALISIS &amp; PERANCANGAN APLIKASI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420000"/>
            <a:ext cx="7200000" cy="18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Segoe UI"/>
              </a:rPr>
              <a:t>Deskripsi · Kebutuhan · Aturan Bisnis ·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II — ANALISIS &amp; PERANCANGAN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Deskripsi Aplikasi &amp; Aktor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648000"/>
            <a:ext cx="11473200" cy="126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000" y="72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2A"/>
                </a:solidFill>
                <a:latin typeface="Segoe UI"/>
              </a:rPr>
              <a:t>🌸  BLOOM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Aplikasi web toko bunga premium yang memungkinkan pelanggan memesan bunga segar pilihan terbaik secara online. Dilengkapi panel admin untuk mengelola produk, pesanan, dan pengguna secara real-time.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088000"/>
            <a:ext cx="3780000" cy="252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0000" y="2088000"/>
            <a:ext cx="3780000" cy="216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000" y="2124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Segoe UI"/>
              </a:rPr>
              <a:t>👤 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2376000"/>
            <a:ext cx="36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 dirty="0">
                <a:solidFill>
                  <a:srgbClr val="1D1D1F"/>
                </a:solidFill>
                <a:latin typeface="Segoe UI"/>
              </a:rPr>
              <a:t>•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Melihat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daftar &amp; detail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produk</a:t>
            </a:r>
            <a:endParaRPr sz="1100" b="0" dirty="0">
              <a:solidFill>
                <a:srgbClr val="1D1D1F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100" b="0" dirty="0">
                <a:solidFill>
                  <a:srgbClr val="1D1D1F"/>
                </a:solidFill>
                <a:latin typeface="Segoe UI"/>
              </a:rPr>
              <a:t>•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Menambah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produk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ke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keranjang</a:t>
            </a:r>
            <a:endParaRPr sz="1100" b="0" dirty="0">
              <a:solidFill>
                <a:srgbClr val="1D1D1F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100" b="0" dirty="0">
                <a:solidFill>
                  <a:srgbClr val="1D1D1F"/>
                </a:solidFill>
                <a:latin typeface="Segoe UI"/>
              </a:rPr>
              <a:t>•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Melakukan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checkout &amp;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pesanan</a:t>
            </a:r>
            <a:endParaRPr sz="1100" b="0" dirty="0">
              <a:solidFill>
                <a:srgbClr val="1D1D1F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100" b="0" dirty="0">
                <a:solidFill>
                  <a:srgbClr val="1D1D1F"/>
                </a:solidFill>
                <a:latin typeface="Segoe UI"/>
              </a:rPr>
              <a:t>•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Melihat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riwayat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pesanan</a:t>
            </a:r>
            <a:endParaRPr sz="1100" b="0" dirty="0">
              <a:solidFill>
                <a:srgbClr val="1D1D1F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100" b="0" dirty="0">
                <a:solidFill>
                  <a:srgbClr val="1D1D1F"/>
                </a:solidFill>
                <a:latin typeface="Segoe UI"/>
              </a:rPr>
              <a:t>• Register &amp; login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akun</a:t>
            </a:r>
            <a:endParaRPr sz="1100" b="0" dirty="0">
              <a:solidFill>
                <a:srgbClr val="1D1D1F"/>
              </a:solidFill>
              <a:latin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20000" y="2088000"/>
            <a:ext cx="3780000" cy="252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20000" y="2088000"/>
            <a:ext cx="3780000" cy="216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28000" y="20732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Segoe UI"/>
              </a:rPr>
              <a:t>🔐 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8000" y="2376000"/>
            <a:ext cx="36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• Melihat dashboard statistik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• Kelola produk (CRUD)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• Kelola &amp; update status pesanan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• Melihat sesi pengguna aktif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• Login dengan 3-factor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0000" y="2088000"/>
            <a:ext cx="3780000" cy="252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80000" y="2088000"/>
            <a:ext cx="3780000" cy="216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8000" y="2124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Segoe UI"/>
              </a:rPr>
              <a:t>🤖  SISTEM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8000" y="2376000"/>
            <a:ext cx="36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• Validasi stok &amp; qty (1-10)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• Transisi status pesanan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• Hashing password (bcrypt)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• Rate limiting login (5x/15min)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D1D1F"/>
                </a:solidFill>
                <a:latin typeface="Segoe UI"/>
              </a:rPr>
              <a:t>• Session tracking otomatis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II — ANALISIS &amp; PERANCANGAN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Kebutuhan Fungsional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720000"/>
          <a:ext cx="11520000" cy="24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Kode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Fitur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Deskripsi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FR-01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Login Pengguna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Email/username + password; validasi field kosong; pesan error yang deskriptif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FR-02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Daftar Produk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Tampilkan nama, harga, stok, kategori, deskripsi; harga &gt; 0; stok &gt;=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FR-03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Keranjang Belanja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Add/remove/update qty; min 1 unit; max 10 unit; tidak melebihi stok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FR-04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Checkout &amp; Pesanan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Login required; cart tidak kosong; isi data penerima; hasilkan nomor pesanan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FR-05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Status Pesanan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DRAFT→CONFIRMED→COMPLETED; DRAFT/CONFIRMED→CANCELLED; validasi transisi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FR-06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RESTful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8 endpoints CRUD produk &amp; pesanan; response body + status code + error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FR-07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Register Akun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Validasi username/email unik; password min 6 karakter; auto-login setelah daftar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FR-08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Admin Panel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Dashboard stats; kelola produk, pesanan, pengguna; 3-factor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II — ANALISIS &amp; PERANCANGAN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Aturan Bisnis Aplikasi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3780000" cy="18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720000"/>
            <a:ext cx="90000" cy="180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792000"/>
            <a:ext cx="352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1D1D1F"/>
                </a:solidFill>
                <a:latin typeface="Segoe UI"/>
              </a:rPr>
              <a:t>Keranjang</a:t>
            </a:r>
            <a:r>
              <a:rPr sz="1100" b="1" i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1" i="0" dirty="0" err="1">
                <a:solidFill>
                  <a:srgbClr val="1D1D1F"/>
                </a:solidFill>
                <a:latin typeface="Segoe UI"/>
              </a:rPr>
              <a:t>Belanja</a:t>
            </a:r>
            <a:endParaRPr sz="1100" b="1" i="0" dirty="0">
              <a:solidFill>
                <a:srgbClr val="1D1D1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0000" y="1062000"/>
            <a:ext cx="352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• Min 1 unit, Max 10 unit per produk
• Qty tidak boleh melebihi stok
• Tolak: negatif, nol, desimal, teks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0" y="720000"/>
            <a:ext cx="3780000" cy="18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0000" y="720000"/>
            <a:ext cx="90000" cy="180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0000" y="792000"/>
            <a:ext cx="352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D1D1F"/>
                </a:solidFill>
                <a:latin typeface="Segoe UI"/>
              </a:rPr>
              <a:t>Status </a:t>
            </a:r>
            <a:r>
              <a:rPr sz="1100" b="1" i="0" dirty="0" err="1">
                <a:solidFill>
                  <a:srgbClr val="1D1D1F"/>
                </a:solidFill>
                <a:latin typeface="Segoe UI"/>
              </a:rPr>
              <a:t>Pesanan</a:t>
            </a:r>
            <a:endParaRPr sz="1100" b="1" i="0" dirty="0">
              <a:solidFill>
                <a:srgbClr val="1D1D1F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0000" y="1062000"/>
            <a:ext cx="352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• Baru dibuat → DRAFT
• DRAFT → CONFIRMED atau CANCELLED
• CONFIRMED → COMPLETED atau CANCELLED
• COMPLETED &amp; CANCELLED: DIKUNCI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0000" y="720000"/>
            <a:ext cx="3780000" cy="18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80000" y="720000"/>
            <a:ext cx="90000" cy="180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60000" y="792000"/>
            <a:ext cx="352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1D1D1F"/>
                </a:solidFill>
                <a:latin typeface="Segoe UI"/>
              </a:rPr>
              <a:t>Validasi</a:t>
            </a:r>
            <a:r>
              <a:rPr sz="1100" b="1" i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1" i="0" dirty="0" err="1">
                <a:solidFill>
                  <a:srgbClr val="1D1D1F"/>
                </a:solidFill>
                <a:latin typeface="Segoe UI"/>
              </a:rPr>
              <a:t>Produk</a:t>
            </a:r>
            <a:endParaRPr sz="1100" b="1" i="0" dirty="0">
              <a:solidFill>
                <a:srgbClr val="1D1D1F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60000" y="1062000"/>
            <a:ext cx="352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• Nama produk wajib diisi
• Harga &gt; 0 (tidak boleh nol/negatif)
• Stok &gt;= 0 (tidak boleh negatif)
• Tipe data harga &amp; stok = integer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2700000"/>
            <a:ext cx="3780000" cy="18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0000" y="2700000"/>
            <a:ext cx="90000" cy="180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0000" y="2772000"/>
            <a:ext cx="352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1D1D1F"/>
                </a:solidFill>
                <a:latin typeface="Segoe UI"/>
              </a:rPr>
              <a:t>Keamanan</a:t>
            </a:r>
            <a:endParaRPr sz="1100" b="1" i="0" dirty="0">
              <a:solidFill>
                <a:srgbClr val="1D1D1F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0000" y="3041999"/>
            <a:ext cx="352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• Password di-hash dengan bcrypt (salt 10)
• Admin: 3-factor auth
• Rate limiting: max 5 percobaan/15 menit
• Session cookie: HttpOnly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0" y="2700000"/>
            <a:ext cx="3780000" cy="18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20000" y="2700000"/>
            <a:ext cx="90000" cy="180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00000" y="2772000"/>
            <a:ext cx="352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D1D1F"/>
                </a:solidFill>
                <a:latin typeface="Segoe UI"/>
              </a:rPr>
              <a:t>Checkout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0000" y="3041999"/>
            <a:ext cx="352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• User harus login
• Keranjang tidak kosong
• Semua qty valid
• Stok mencukupi
• Data penerima lengkap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0000" y="2700000"/>
            <a:ext cx="3780000" cy="18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80000" y="2700000"/>
            <a:ext cx="90000" cy="180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60000" y="2772000"/>
            <a:ext cx="352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D1D1F"/>
                </a:solidFill>
                <a:latin typeface="Segoe UI"/>
              </a:rPr>
              <a:t>Stok </a:t>
            </a:r>
            <a:r>
              <a:rPr sz="1100" b="1" i="0" dirty="0" err="1">
                <a:solidFill>
                  <a:srgbClr val="1D1D1F"/>
                </a:solidFill>
                <a:latin typeface="Segoe UI"/>
              </a:rPr>
              <a:t>Otomatis</a:t>
            </a:r>
            <a:endParaRPr sz="1100" b="1" i="0" dirty="0">
              <a:solidFill>
                <a:srgbClr val="1D1D1F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60000" y="3041999"/>
            <a:ext cx="352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• Stok berkurang saat order dibuat
• Stok kembali saat order CANCELLED
• Menggunakan database transaction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II — ANALISIS &amp; PERANCANGAN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Rancangan RESTful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720000"/>
          <a:ext cx="11520000" cy="29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Fungsi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Response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/api/products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Ambil semua produk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200 array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/api/products/:id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Detail produk by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200 / 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/api/products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Tambah produk baru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🔐 Admin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201 / 400 / 401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/api/products/:id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Update produk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🔐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200 / 401 / 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DELETE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/api/products/:id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Hapus produk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🔐 Admin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200 / 401 / 404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/api/orders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Buat pesanan baru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201 /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/api/orders/:id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Detail pesanan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200 / 404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/api/orders/:id/status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Update status pesanan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200 / 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/api/auth/login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Login pengguna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200 / 401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/api/auth/register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Register akun baru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201 /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II — ANALISIS &amp; PERANCANGAN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Rancangan Data (Prisma Schema)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3780000" cy="216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000" y="683999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Segoe UI"/>
              </a:rPr>
              <a:t>model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9360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000" y="9540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D1D1F"/>
                </a:solidFill>
                <a:latin typeface="Segoe UI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8000" y="9540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Int PK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1231200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000" y="12492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8000" y="12492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15264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8000" y="15444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slug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8000" y="15444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 unique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1821600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8000" y="1839599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8000" y="1839599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21168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000" y="21348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8000" y="21348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2411999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000" y="24300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48000" y="24300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27072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8000" y="27252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description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8000" y="27252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000" y="3002400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8000" y="3020399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heroImage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8000" y="3020399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000" y="32976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8000" y="3315599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images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48000" y="3315599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 (JSON)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0000" y="3592800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8000" y="36108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info*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48000" y="36108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6 fields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0" y="720000"/>
            <a:ext cx="3780000" cy="216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28000" y="698399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model Order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20000" y="9360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28000" y="9540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8000" y="9540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 PK (cuid)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20000" y="1231200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28000" y="12492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8000" y="12492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0000" y="15264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28000" y="15444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totalPrice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8000" y="15444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Int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0000" y="1821600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28000" y="1839599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recipientName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8000" y="1839599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0" y="21168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28000" y="21348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shippingAddress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8000" y="21348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20000" y="2411999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28000" y="24300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phoneNumber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8000" y="24300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0000" y="27072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428000" y="27252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createdAt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8000" y="27252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DateTime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0000" y="3002400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28000" y="3020399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updatedAt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8000" y="3020399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DateTime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20000" y="32976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428000" y="3315599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items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8000" y="3315599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OrderItem[]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80000" y="720000"/>
            <a:ext cx="3780000" cy="21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54615" y="687122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Segoe UI"/>
              </a:rPr>
              <a:t>model User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80000" y="9360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88000" y="9540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68000" y="9540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Int PK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80000" y="1231200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88000" y="12492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name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68000" y="12492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80000" y="15264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88000" y="15444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username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68000" y="15444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 unique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80000" y="1821600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388000" y="1839599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email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68000" y="1839599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 unique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80000" y="21168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88000" y="21348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password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68000" y="21348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 (bcrypt)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80000" y="2411999"/>
            <a:ext cx="37800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388000" y="24300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role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68000" y="24300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String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80000" y="2707200"/>
            <a:ext cx="3780000" cy="295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88000" y="2725200"/>
            <a:ext cx="19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egoe UI"/>
              </a:rPr>
              <a:t>createdAt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68000" y="2725200"/>
            <a:ext cx="162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egoe UI"/>
              </a:rPr>
              <a:t>DateTime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C759"/>
                </a:solidFill>
                <a:latin typeface="Segoe UI"/>
              </a:rPr>
              <a:t>BAB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ADVANCED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420000"/>
            <a:ext cx="7200000" cy="18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Segoe UI"/>
              </a:rPr>
              <a:t>State Transition Testing (Black-Box) · Cyclomatic Complexity (White-Box)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III — ADVANCED TEST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State Transition Testing —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11473200" cy="432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000" y="720000"/>
            <a:ext cx="1116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D1D1F"/>
                </a:solidFill>
                <a:latin typeface="Segoe UI"/>
              </a:rPr>
              <a:t>Proses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Bisnis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: Status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Pesanan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(PRD Modul 5) — Bloom Store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mengimplementasikan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mekanisme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transisi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status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pesanan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yang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ketat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untuk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memastikan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alur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pemesanan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berjalan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D1D1F"/>
                </a:solidFill>
                <a:latin typeface="Segoe UI"/>
              </a:rPr>
              <a:t>tertib</a:t>
            </a:r>
            <a:r>
              <a:rPr sz="1100" b="0" i="0" dirty="0">
                <a:solidFill>
                  <a:srgbClr val="1D1D1F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260000"/>
            <a:ext cx="2700000" cy="1080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000" y="133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162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Pesanan baru dibuat
Status awal otomatis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0" y="1260000"/>
            <a:ext cx="2700000" cy="1080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48000" y="133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CONFIRMED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8000" y="162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Pesanan dikonfirmasi
admin &amp; diproses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1260000"/>
            <a:ext cx="2700000" cy="108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8000" y="133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8000" y="162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Pesanan selesai
&amp; diterima pelanggan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0000" y="1260000"/>
            <a:ext cx="2700000" cy="10800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08000" y="133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CANCELLED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8000" y="162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Pesanan dibatalkan
stok dikembalikan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0000" y="1692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 err="1">
                <a:solidFill>
                  <a:srgbClr val="1D1D1F"/>
                </a:solidFill>
                <a:latin typeface="Segoe UI"/>
              </a:rPr>
              <a:t>konfirmasi</a:t>
            </a:r>
            <a:r>
              <a:rPr sz="900" b="1" i="0" dirty="0">
                <a:solidFill>
                  <a:srgbClr val="1D1D1F"/>
                </a:solidFill>
                <a:latin typeface="Segoe UI"/>
              </a:rPr>
              <a:t>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0000" y="1692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 err="1">
                <a:solidFill>
                  <a:srgbClr val="1D1D1F"/>
                </a:solidFill>
                <a:latin typeface="Segoe UI"/>
              </a:rPr>
              <a:t>selesaikan</a:t>
            </a:r>
            <a:r>
              <a:rPr sz="900" b="1" i="0" dirty="0">
                <a:solidFill>
                  <a:srgbClr val="1D1D1F"/>
                </a:solidFill>
                <a:latin typeface="Segoe UI"/>
              </a:rPr>
              <a:t> →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0000" y="2592000"/>
          <a:ext cx="1152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Event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Transisi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Keterangan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konfirmasi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 → CONFIRMED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Admin mengkonfirmasi pesanan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selesaikan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CONFIRMED →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Admin menandai pesanan selesai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batalkan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DRAFT/CONFIRMED → CANCELLED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Pembatalan pesanan (stok kembali)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III — ADVANCED TEST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Tabel Transisi Status — Valid &amp; Tidak Valid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720000"/>
          <a:ext cx="11520000" cy="29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Dari (Current)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Ke (Next)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Keterangan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CONFIRMED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VALID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Alur normal — konfirmasi pesanan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Batal sebelum konfirmasi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CONFIRMED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VALID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Pesanan selesai dan diterima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Batal setelah konfirmasi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❌ TIDAK VALID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Harus melewati CONFIRMED dulu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❌ TIDAK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Status sama, tidak berubah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CONFIRMED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❌ TIDAK VALID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Tidak boleh mundur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❌ TIDAK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COMPLETED dikunci permanen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CANCELLED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CONFIRMED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❌ TIDAK VALID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CANCELLED dikunci permanen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* (any)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❌ TIDAK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Status tidak dikenal ditolak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048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1D1F"/>
                </a:solidFill>
                <a:latin typeface="Segoe UI"/>
              </a:rPr>
              <a:t>✅ 4 Transisi Valid  |  ❌ 6 Transisi Tidak Valid  |  Total: 10 Test Cases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III — ADVANCED TEST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Test Cases — State Transition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720000"/>
          <a:ext cx="11520000" cy="29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TC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Skenario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Tipe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Expected Result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TC-STT-01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DRAFT→CONFIRMED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Status berubah ke CONFIRMED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TC-STT-02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CONFIRMED→COMPLETED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Status berubah ke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TC-STT-03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DRAFT→CANCELLED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Status berubah ke CANCELLED, stok kembali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TC-STT-04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CONFIRMED→CANCELLED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Status berubah ke 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TC-STT-05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DRAFT→COMPLETED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Negatif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Ditolak — harus lewati CONFIRMED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TC-STT-06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COMPLETED→CANCELLED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Negatif (Locked)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Ditolak — pesan 'selesai'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TC-STT-07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CANCELLED→CONFIRMED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Negatif (Locked)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Ditolak — pesan 'dibatalkan'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TC-STT-08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CONFIRMED→DRAFT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Negatif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Ditolak — tidak boleh mundur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TC-STT-09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DRAFT→DRAFT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Status Sama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Ditolak — pesan 'sama'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TC-STT-10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DRAFT→UNKNOWN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Invalid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Ditolak — pesan 'tidak valid'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680000" y="5940000"/>
            <a:ext cx="2880000" cy="28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0000" y="5940000"/>
            <a:ext cx="288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Segoe UI"/>
              </a:rPr>
              <a:t>10/10 PASS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III — ADVANCED TEST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White-Box Testing — Cyclomatic Complexity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5580000" cy="306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720000"/>
            <a:ext cx="5580000" cy="216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000" y="693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FFFFFF"/>
                </a:solidFill>
                <a:latin typeface="Segoe UI"/>
              </a:rPr>
              <a:t>Fungsi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1: </a:t>
            </a:r>
            <a:r>
              <a:rPr sz="1100" b="1" i="0" dirty="0" err="1">
                <a:solidFill>
                  <a:srgbClr val="FFFFFF"/>
                </a:solidFill>
                <a:latin typeface="Segoe UI"/>
              </a:rPr>
              <a:t>validateOrderTransition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972000"/>
            <a:ext cx="54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egoe UI"/>
              </a:rPr>
              <a:t>if (!from || !STATUSES.includes(from))  // D1
  return invalid;
if (!to || !STATUSES.includes(to))    // D2
  return invalid;
if (from === to)                       // D3
  return invalid;
if (from === 'COMPLETED')             // D4
  return locked;
if (from === 'CANCELLED')             // D5
  return locked;
if (!ALLOWED[from].includes(to))      // D6
  return not_allowed;
return valid;                         // N8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720000"/>
            <a:ext cx="5580000" cy="306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0000" y="720000"/>
            <a:ext cx="5580000" cy="216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1999" y="701569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FFFFFF"/>
                </a:solidFill>
                <a:latin typeface="Segoe UI"/>
              </a:rPr>
              <a:t>Fungsi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2: </a:t>
            </a:r>
            <a:r>
              <a:rPr sz="1100" b="1" i="0" dirty="0" err="1">
                <a:solidFill>
                  <a:srgbClr val="FFFFFF"/>
                </a:solidFill>
                <a:latin typeface="Segoe UI"/>
              </a:rPr>
              <a:t>validateCartItem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000" y="972000"/>
            <a:ext cx="54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egoe UI"/>
              </a:rPr>
              <a:t>if (!Number.isFinite(qty))    // D1
  return not_finite;
if (!Number.isInteger(qty))   // D2
  return not_integer;
if (qty &lt; MIN_QTY)            // D3
  return below_min;
if (qty &gt; MAX_QTY)            // D4
  return above_max;
if (stock === 0)              // D5
  return out_of_stock;
if (qty &gt; stock)              // D6
  return insufficient;
return valid;                 // N8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3888000"/>
          <a:ext cx="11520000" cy="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Fungsi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Nodes (N)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Edges (E)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Formula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CC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Paths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validateOrderTransition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CC = E - N + 2P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validateCartItem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CC = E - N + 2P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0000" y="5940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egoe UI"/>
              </a:rPr>
              <a:t>CC = 7 → Cukup kompleks (6-10) | 7 Independent Paths per fungsi → 14 test cases total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C759"/>
                </a:solidFill>
                <a:latin typeface="Segoe UI"/>
              </a:rPr>
              <a:t>BAB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IMPLEMENTASI TEST-DRIVEN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420000"/>
            <a:ext cx="7200000" cy="18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Segoe UI"/>
              </a:rPr>
              <a:t>Red → Green → Refactor · Jest · 52 Tests Passing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IV — TDD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Segoe UI"/>
              </a:rPr>
              <a:t>Implementasi</a:t>
            </a:r>
            <a:r>
              <a:rPr sz="1800" b="1" i="0" dirty="0">
                <a:solidFill>
                  <a:srgbClr val="FFFFFF"/>
                </a:solidFill>
                <a:latin typeface="Segoe UI"/>
              </a:rPr>
              <a:t> TDD — </a:t>
            </a:r>
            <a:r>
              <a:rPr sz="1800" b="1" i="0" dirty="0" err="1">
                <a:solidFill>
                  <a:srgbClr val="FFFFFF"/>
                </a:solidFill>
                <a:latin typeface="Segoe UI"/>
              </a:rPr>
              <a:t>Fungsi</a:t>
            </a:r>
            <a:r>
              <a:rPr sz="1800" b="1" i="0" dirty="0">
                <a:solidFill>
                  <a:srgbClr val="FFFFFF"/>
                </a:solidFill>
                <a:latin typeface="Segoe UI"/>
              </a:rPr>
              <a:t>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11473200" cy="9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000" y="774000"/>
            <a:ext cx="1116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Dua fungsi bisnis dikembangkan menggunakan pendekatan Test-Driven Development — test ditulis SEBELUM implementasi, memastikan kode benar sejak awal.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728000"/>
            <a:ext cx="11473200" cy="18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0000" y="1728000"/>
            <a:ext cx="108000" cy="180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00" y="1800000"/>
            <a:ext cx="10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D1D1F"/>
                </a:solidFill>
                <a:latin typeface="Segoe UI"/>
              </a:rPr>
              <a:t>validateOrderTransition</a:t>
            </a:r>
            <a:r>
              <a:rPr sz="1400" b="1" i="0" dirty="0">
                <a:solidFill>
                  <a:srgbClr val="1D1D1F"/>
                </a:solidFill>
                <a:latin typeface="Segoe UI"/>
              </a:rPr>
              <a:t>(from, 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088000"/>
            <a:ext cx="108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E6E73"/>
                </a:solidFill>
                <a:latin typeface="Segoe UI"/>
              </a:rPr>
              <a:t>lib/business/</a:t>
            </a:r>
            <a:r>
              <a:rPr sz="1000" b="0" i="0" dirty="0" err="1">
                <a:solidFill>
                  <a:srgbClr val="6E6E73"/>
                </a:solidFill>
                <a:latin typeface="Segoe UI"/>
              </a:rPr>
              <a:t>orderTransition.ts</a:t>
            </a:r>
            <a:endParaRPr sz="1000" b="0" i="0" dirty="0">
              <a:solidFill>
                <a:srgbClr val="6E6E73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6000" y="234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egoe UI"/>
              </a:rPr>
              <a:t>Validasi apakah transisi status pesanan diizinkan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2700000"/>
            <a:ext cx="4320000" cy="251999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00" y="2691383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Segoe UI"/>
              </a:rPr>
              <a:t>18 test cases | 7 independent paths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08000"/>
            <a:ext cx="11473200" cy="180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0000" y="3708000"/>
            <a:ext cx="108000" cy="180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00" y="3780000"/>
            <a:ext cx="10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D1D1F"/>
                </a:solidFill>
                <a:latin typeface="Segoe UI"/>
              </a:rPr>
              <a:t>validateCartItem</a:t>
            </a:r>
            <a:r>
              <a:rPr sz="1400" b="1" i="0" dirty="0">
                <a:solidFill>
                  <a:srgbClr val="1D1D1F"/>
                </a:solidFill>
                <a:latin typeface="Segoe UI"/>
              </a:rPr>
              <a:t>(qty, stock)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" y="4068000"/>
            <a:ext cx="108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E6E73"/>
                </a:solidFill>
                <a:latin typeface="Segoe UI"/>
              </a:rPr>
              <a:t>lib/business/</a:t>
            </a:r>
            <a:r>
              <a:rPr sz="1000" b="0" i="0" dirty="0" err="1">
                <a:solidFill>
                  <a:srgbClr val="6E6E73"/>
                </a:solidFill>
                <a:latin typeface="Segoe UI"/>
              </a:rPr>
              <a:t>cartValidation.ts</a:t>
            </a:r>
            <a:endParaRPr sz="1000" b="0" i="0" dirty="0">
              <a:solidFill>
                <a:srgbClr val="6E6E73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6000" y="43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egoe UI"/>
              </a:rPr>
              <a:t>Validasi kuantitas item sebelum masuk keranjang belanja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4680000"/>
            <a:ext cx="4320000" cy="251999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00" y="4676462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Segoe UI"/>
              </a:rPr>
              <a:t>20 test cases | 7 independent paths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IV — TDD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Fase RED — Test Gagal (Fungsi Belum Ada)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1800000" cy="52200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000" y="1260000"/>
            <a:ext cx="16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Segoe UI"/>
              </a:rPr>
              <a:t>🔴
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340000"/>
            <a:ext cx="16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Test
ditulis
lebih
dahulu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0000" y="720000"/>
            <a:ext cx="4680000" cy="5220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40000" y="720000"/>
            <a:ext cx="4680000" cy="144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12000" y="737999"/>
            <a:ext cx="7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4444"/>
                </a:solidFill>
                <a:latin typeface="Segoe UI"/>
              </a:rPr>
              <a:t>● ● 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8000" y="900000"/>
            <a:ext cx="4500000" cy="50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__tests__/orderTransition.test.ts
import { validateOrderTransition }
  from '@/lib/business/orderTransition';
describe('validateOrderTransition', () =&gt; {
  it('DRAFT→CONFIRMED valid', () =&gt; {
    const result =
      validateOrderTransition('DRAFT','CONFIRMED');
    expect(result.valid).toBe(true);
  });
  it('COMPLETED dikunci', () =&gt; {
    const result =
      validateOrderTransition('COMPLETED','CANCELLED');
    expect(result.valid).toBe(false);
    expect(result.message).toMatch(/selesai/);
  });
});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0000" y="720000"/>
            <a:ext cx="4680000" cy="5220000"/>
          </a:xfrm>
          <a:prstGeom prst="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000" y="827999"/>
            <a:ext cx="45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  <a:latin typeface="Segoe UI"/>
              </a:rPr>
              <a:t>Hasil Eksekusi RED Phase: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1080000"/>
            <a:ext cx="45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88"/>
                </a:solidFill>
                <a:latin typeface="Segoe UI"/>
              </a:rPr>
              <a:t>FAIL __tests__/orderTransition.test.ts
  ● Test suite failed to run
    Cannot find module
    '@/lib/business/orderTransition'
    from __tests__/orderTransition.test.ts
Tests:  0 total
Time:   0.718 s
→ EXPECTED: Test gagal karena
  implementasi belum ada!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IV — TDD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Fase GREEN — Implementasi Minimal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1800000" cy="522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000" y="1260000"/>
            <a:ext cx="16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Segoe UI"/>
              </a:rPr>
              <a:t>🟢
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340000"/>
            <a:ext cx="16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Kode
minimal
agar test
lulus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0000" y="720000"/>
            <a:ext cx="4680000" cy="5220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40000" y="720000"/>
            <a:ext cx="4680000" cy="144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12000" y="737999"/>
            <a:ext cx="7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4444"/>
                </a:solidFill>
                <a:latin typeface="Segoe UI"/>
              </a:rPr>
              <a:t>● ● 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8000" y="900000"/>
            <a:ext cx="4500000" cy="50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// lib/business/orderTransition.ts
// VERSI GREEN — minimal implementation
const ALLOWED = {
  DRAFT:     ['CONFIRMED','CANCELLED'],
  CONFIRMED: ['COMPLETED','CANCELLED'],
  COMPLETED: [],
  CANCELLED: [],
};
export function validateOrderTransition(
  from: string, to: string
) {
  if (!from || !ALL.includes(from))
    return { valid: false, message: '...' };
  if (from === to)
    return { valid: false, message: '...' };
  if (from === 'COMPLETED')
    return { valid: false, message: '...' };
  if (!ALLOWED[from].includes(to))
    return { valid: false, message: '...' };
  return { valid: true, message: '...' };
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0000" y="720000"/>
            <a:ext cx="4680000" cy="5220000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000" y="827999"/>
            <a:ext cx="45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egoe UI"/>
              </a:rPr>
              <a:t>Hasil Eksekusi GREEN Phase: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1080000"/>
            <a:ext cx="45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FFAA"/>
                </a:solidFill>
                <a:latin typeface="Segoe UI"/>
              </a:rPr>
              <a:t>PASS __tests__/orderTransition.test.ts
  validateOrderTransition
    ✓ DRAFT→CONFIRMED valid (3ms)
    ✓ DRAFT→CANCELLED valid (1ms)
    ✓ CONFIRMED→COMPLETED valid
    ✓ CONFIRMED→CANCELLED valid
    ✓ COMPLETED dikunci (2ms)
    ✓ CANCELLED dikunci (1ms)
    ✓ Status sama ditolak (1ms)
    ...
Tests:  18 passed, 18 total
Time:   0.419 s
→ SEMUA TEST LULUS! 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IV — TDD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Segoe UI"/>
              </a:rPr>
              <a:t>Fase REFACTOR + Hasil Final TDD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33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1800000" cy="2520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000" y="1080000"/>
            <a:ext cx="16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Segoe UI"/>
              </a:rPr>
              <a:t>REFACTOR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566000"/>
            <a:ext cx="16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FFFFFF"/>
                </a:solidFill>
                <a:latin typeface="Segoe UI"/>
              </a:rPr>
              <a:t>Bersihkan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
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kode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tanpa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
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ubah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perilaku</a:t>
            </a:r>
            <a:endParaRPr sz="12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40000" y="792000"/>
            <a:ext cx="93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 dirty="0">
                <a:solidFill>
                  <a:srgbClr val="1D1D1F"/>
                </a:solidFill>
                <a:latin typeface="Segoe UI"/>
              </a:rPr>
              <a:t>✅ Export ALL_ORDER_STATUSES dan ALLOWED_TRANSITIONS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sebagai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konstanta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reusable</a:t>
            </a:r>
          </a:p>
          <a:p>
            <a:pPr>
              <a:spcBef>
                <a:spcPts val="200"/>
              </a:spcBef>
            </a:pPr>
            <a:r>
              <a:rPr sz="1100" b="0" dirty="0">
                <a:solidFill>
                  <a:srgbClr val="1D1D1F"/>
                </a:solidFill>
                <a:latin typeface="Segoe UI"/>
              </a:rPr>
              <a:t>✅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Tambah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STATUS_LABEL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untuk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pesan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error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lebih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deskriptif</a:t>
            </a:r>
            <a:endParaRPr sz="1100" b="0" dirty="0">
              <a:solidFill>
                <a:srgbClr val="1D1D1F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100" b="0" dirty="0">
                <a:solidFill>
                  <a:srgbClr val="1D1D1F"/>
                </a:solidFill>
                <a:latin typeface="Segoe UI"/>
              </a:rPr>
              <a:t>✅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Tambah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JSDoc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lengkap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dengan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@param, @returns, @example</a:t>
            </a:r>
          </a:p>
          <a:p>
            <a:pPr>
              <a:spcBef>
                <a:spcPts val="200"/>
              </a:spcBef>
            </a:pPr>
            <a:r>
              <a:rPr sz="1100" b="0" dirty="0">
                <a:solidFill>
                  <a:srgbClr val="1D1D1F"/>
                </a:solidFill>
                <a:latin typeface="Segoe UI"/>
              </a:rPr>
              <a:t>✅ Type safety: string → OrderStatus casting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dengan</a:t>
            </a:r>
            <a:r>
              <a:rPr sz="1100" b="0" dirty="0">
                <a:solidFill>
                  <a:srgbClr val="1D1D1F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1D1D1F"/>
                </a:solidFill>
                <a:latin typeface="Segoe UI"/>
              </a:rPr>
              <a:t>validasi</a:t>
            </a:r>
            <a:endParaRPr sz="1100" b="0" dirty="0">
              <a:solidFill>
                <a:srgbClr val="1D1D1F"/>
              </a:solidFill>
              <a:latin typeface="Segoe U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0000" y="3420000"/>
            <a:ext cx="11473200" cy="252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0000" y="3420000"/>
            <a:ext cx="11473200" cy="216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000" y="3397890"/>
            <a:ext cx="1116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Segoe UI"/>
              </a:rPr>
              <a:t>HASIL AKHIR TDD — 52 Tests Passing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3708000"/>
          <a:ext cx="1152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Suite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Tests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Coverage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orderTransition.test.ts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6 kategori: valid, invalid, locked, sama, boundary, unknown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cartValidation.test.ts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7 kategori: valid, negatif, batas, stok, desimal, NaN, boundary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1D1D1F"/>
                          </a:solidFill>
                          <a:latin typeface="Segoe UI"/>
                        </a:rPr>
                        <a:t>whitebox.test.ts</a:t>
                      </a:r>
                      <a:endParaRPr sz="1000" dirty="0">
                        <a:solidFill>
                          <a:srgbClr val="1D1D1F"/>
                        </a:solidFill>
                        <a:latin typeface="Segoe UI"/>
                      </a:endParaRP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D1D1F"/>
                          </a:solidFill>
                          <a:latin typeface="Segoe UI"/>
                        </a:rPr>
                        <a:t>Path coverage: 7 paths × 2 </a:t>
                      </a:r>
                      <a:r>
                        <a:rPr sz="1000" dirty="0" err="1">
                          <a:solidFill>
                            <a:srgbClr val="1D1D1F"/>
                          </a:solidFill>
                          <a:latin typeface="Segoe UI"/>
                        </a:rPr>
                        <a:t>fungsi</a:t>
                      </a:r>
                      <a:r>
                        <a:rPr sz="1000" dirty="0">
                          <a:solidFill>
                            <a:srgbClr val="1D1D1F"/>
                          </a:solidFill>
                          <a:latin typeface="Segoe UI"/>
                        </a:rPr>
                        <a:t> = 14 independent paths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0000" y="5580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34C759"/>
                </a:solidFill>
                <a:latin typeface="Segoe UI"/>
              </a:rPr>
              <a:t>Total: 52 Tests | 3 Test Suites | Time: 0.67s | SEMUA LULUS 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C759"/>
                </a:solidFill>
                <a:latin typeface="Segoe UI"/>
              </a:rPr>
              <a:t>BAB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  <a:latin typeface="Segoe UI"/>
              </a:rPr>
              <a:t>IMPLEMENTASI BEHAVIOR-DRIVEN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338" y="3662277"/>
            <a:ext cx="7200000" cy="18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3680277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E6E73"/>
                </a:solidFill>
                <a:latin typeface="Segoe UI"/>
              </a:rPr>
              <a:t>Cucumber.js · Gherkin · 37 Scenarios · 124 Steps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V — BDD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BDD — Feature Files &amp; Hasil Eksekusi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597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5580000" cy="324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720000"/>
            <a:ext cx="5580000" cy="216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000" y="737999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📄  features/cart.feature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990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egoe UI"/>
              </a:rPr>
              <a:t>Keranjang Belanja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" y="1260000"/>
            <a:ext cx="2880000" cy="216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000" y="1241999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Segoe UI"/>
              </a:rPr>
              <a:t>18 scenarios | 67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1548000"/>
            <a:ext cx="54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• 3 Skenario Positif (qty valid)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• 6 Skenario Negatif (nol, negatif, &gt;10, stok habis, stok kurang, desimal)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• 1 Scenario Outline (8 kombinasi qty×stok)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720000"/>
            <a:ext cx="5580000" cy="324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0000" y="720000"/>
            <a:ext cx="5580000" cy="216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8000" y="737999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📄  features/order-status.feature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0" y="990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egoe UI"/>
              </a:rPr>
              <a:t>Status Pesanan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8000" y="1260000"/>
            <a:ext cx="2880000" cy="216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8000" y="1247045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Segoe UI"/>
              </a:rPr>
              <a:t>19 scenarios | 57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0" y="1548000"/>
            <a:ext cx="54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• 4 Skenario Positif (transisi valid)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• 5 Skenario Negatif (skip step, locked, mundur, sama)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• 1 Scenario Outline (11 kombinasi from×to)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4140000"/>
            <a:ext cx="11473200" cy="1980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0000" y="4140000"/>
            <a:ext cx="11473200" cy="180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000" y="4140000"/>
            <a:ext cx="111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6E6E73"/>
                </a:solidFill>
                <a:latin typeface="Segoe UI"/>
              </a:rPr>
              <a:t>● ● ●  </a:t>
            </a:r>
            <a:r>
              <a:rPr sz="900" b="0" i="0" dirty="0" err="1">
                <a:solidFill>
                  <a:srgbClr val="6E6E73"/>
                </a:solidFill>
                <a:latin typeface="Segoe UI"/>
              </a:rPr>
              <a:t>cart.feature</a:t>
            </a:r>
            <a:r>
              <a:rPr sz="900" b="0" i="0" dirty="0">
                <a:solidFill>
                  <a:srgbClr val="6E6E73"/>
                </a:solidFill>
                <a:latin typeface="Segoe UI"/>
              </a:rPr>
              <a:t>  |  order-</a:t>
            </a:r>
            <a:r>
              <a:rPr sz="900" b="0" i="0" dirty="0" err="1">
                <a:solidFill>
                  <a:srgbClr val="6E6E73"/>
                </a:solidFill>
                <a:latin typeface="Segoe UI"/>
              </a:rPr>
              <a:t>status.feature</a:t>
            </a:r>
            <a:endParaRPr sz="900" b="0" i="0" dirty="0">
              <a:solidFill>
                <a:srgbClr val="6E6E73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8000" y="4356000"/>
            <a:ext cx="113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Scenario: Menambahkan produk dengan jumlah valid            Scenario Outline: Validasi berbagai jumlah pembelian
  Given stok produk "Anggrek Bulan" tersedia 15 unit             Given stok produk tersedia &lt;stok&gt; unit
  When pelanggan ingin membeli 3 unit                           When pelanggan ingin membeli &lt;qty&gt; unit
  Then sistem menerima penambahan ke keranjang                  Then hasil validasi adalah &lt;hasil&gt;
  And pesan "valid" ditampilkan                                 Examples: | qty | stok | hasil  |
                                                                          | 1   | 10   | valid  |
                                                                          | 11  | 10   | invalid|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619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34C759"/>
                </a:solidFill>
                <a:latin typeface="Segoe UI"/>
              </a:rPr>
              <a:t>✅  37 scenarios (37 passed)  |  124 steps (124 passed)  |  Time: 0.061s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C759"/>
                </a:solidFill>
                <a:latin typeface="Segoe UI"/>
              </a:rPr>
              <a:t>BAB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OTOMATISASI PENGUJIAN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420000"/>
            <a:ext cx="7200000" cy="18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Segoe UI"/>
              </a:rPr>
              <a:t>Cypress · Page Object Model · 16 Test Cases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VI — UI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Cypress — Page Object Model (POM)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3600000" cy="522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720000"/>
            <a:ext cx="3600000" cy="216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000" y="737999"/>
            <a:ext cx="342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FFFFFF"/>
                </a:solidFill>
                <a:latin typeface="Segoe UI"/>
              </a:rPr>
              <a:t>Struktur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Segoe UI"/>
              </a:rPr>
              <a:t>Proyek</a:t>
            </a:r>
            <a:endParaRPr sz="11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000" y="972000"/>
            <a:ext cx="3420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34C759"/>
                </a:solidFill>
                <a:latin typeface="Segoe UI"/>
              </a:rPr>
              <a:t>cypress/
├── e2e/
│   ├── </a:t>
            </a:r>
            <a:r>
              <a:rPr sz="950" b="0" i="0" dirty="0" err="1">
                <a:solidFill>
                  <a:srgbClr val="34C759"/>
                </a:solidFill>
                <a:latin typeface="Segoe UI"/>
              </a:rPr>
              <a:t>login.cy.ts</a:t>
            </a:r>
            <a:r>
              <a:rPr sz="950" b="0" i="0" dirty="0">
                <a:solidFill>
                  <a:srgbClr val="34C759"/>
                </a:solidFill>
                <a:latin typeface="Segoe UI"/>
              </a:rPr>
              <a:t>
│   │   └── 8 test cases
│   ├── </a:t>
            </a:r>
            <a:r>
              <a:rPr sz="950" b="0" i="0" dirty="0" err="1">
                <a:solidFill>
                  <a:srgbClr val="34C759"/>
                </a:solidFill>
                <a:latin typeface="Segoe UI"/>
              </a:rPr>
              <a:t>products.cy.ts</a:t>
            </a:r>
            <a:r>
              <a:rPr sz="950" b="0" i="0" dirty="0">
                <a:solidFill>
                  <a:srgbClr val="34C759"/>
                </a:solidFill>
                <a:latin typeface="Segoe UI"/>
              </a:rPr>
              <a:t>
│   │   └── 8 test cases
│   └── </a:t>
            </a:r>
            <a:r>
              <a:rPr sz="950" b="0" i="0" dirty="0" err="1">
                <a:solidFill>
                  <a:srgbClr val="34C759"/>
                </a:solidFill>
                <a:latin typeface="Segoe UI"/>
              </a:rPr>
              <a:t>api.cy.ts</a:t>
            </a:r>
            <a:r>
              <a:rPr sz="950" b="0" i="0" dirty="0">
                <a:solidFill>
                  <a:srgbClr val="34C759"/>
                </a:solidFill>
                <a:latin typeface="Segoe UI"/>
              </a:rPr>
              <a:t>
│       └── 18 test cases
├── pages/  ← POM
│   ├── </a:t>
            </a:r>
            <a:r>
              <a:rPr sz="950" b="0" i="0" dirty="0" err="1">
                <a:solidFill>
                  <a:srgbClr val="34C759"/>
                </a:solidFill>
                <a:latin typeface="Segoe UI"/>
              </a:rPr>
              <a:t>LoginPage.ts</a:t>
            </a:r>
            <a:r>
              <a:rPr sz="950" b="0" i="0" dirty="0">
                <a:solidFill>
                  <a:srgbClr val="34C759"/>
                </a:solidFill>
                <a:latin typeface="Segoe UI"/>
              </a:rPr>
              <a:t>
│   ├── </a:t>
            </a:r>
            <a:r>
              <a:rPr sz="950" b="0" i="0" dirty="0" err="1">
                <a:solidFill>
                  <a:srgbClr val="34C759"/>
                </a:solidFill>
                <a:latin typeface="Segoe UI"/>
              </a:rPr>
              <a:t>ProductsPage.ts</a:t>
            </a:r>
            <a:r>
              <a:rPr sz="950" b="0" i="0" dirty="0">
                <a:solidFill>
                  <a:srgbClr val="34C759"/>
                </a:solidFill>
                <a:latin typeface="Segoe UI"/>
              </a:rPr>
              <a:t>
│   ├── </a:t>
            </a:r>
            <a:r>
              <a:rPr sz="950" b="0" i="0" dirty="0" err="1">
                <a:solidFill>
                  <a:srgbClr val="34C759"/>
                </a:solidFill>
                <a:latin typeface="Segoe UI"/>
              </a:rPr>
              <a:t>CartPage.ts</a:t>
            </a:r>
            <a:r>
              <a:rPr sz="950" b="0" i="0" dirty="0">
                <a:solidFill>
                  <a:srgbClr val="34C759"/>
                </a:solidFill>
                <a:latin typeface="Segoe UI"/>
              </a:rPr>
              <a:t>
│   └── </a:t>
            </a:r>
            <a:r>
              <a:rPr sz="950" b="0" i="0" dirty="0" err="1">
                <a:solidFill>
                  <a:srgbClr val="34C759"/>
                </a:solidFill>
                <a:latin typeface="Segoe UI"/>
              </a:rPr>
              <a:t>CheckoutPage.ts</a:t>
            </a:r>
            <a:r>
              <a:rPr sz="950" b="0" i="0" dirty="0">
                <a:solidFill>
                  <a:srgbClr val="34C759"/>
                </a:solidFill>
                <a:latin typeface="Segoe UI"/>
              </a:rPr>
              <a:t>
├── fixtures/
│   └── </a:t>
            </a:r>
            <a:r>
              <a:rPr sz="950" b="0" i="0" dirty="0" err="1">
                <a:solidFill>
                  <a:srgbClr val="34C759"/>
                </a:solidFill>
                <a:latin typeface="Segoe UI"/>
              </a:rPr>
              <a:t>testData.json</a:t>
            </a:r>
            <a:r>
              <a:rPr sz="950" b="0" i="0" dirty="0">
                <a:solidFill>
                  <a:srgbClr val="34C759"/>
                </a:solidFill>
                <a:latin typeface="Segoe UI"/>
              </a:rPr>
              <a:t>
└── support/
    ├── e2e.ts
    └── </a:t>
            </a:r>
            <a:r>
              <a:rPr sz="950" b="0" i="0" dirty="0" err="1">
                <a:solidFill>
                  <a:srgbClr val="34C759"/>
                </a:solidFill>
                <a:latin typeface="Segoe UI"/>
              </a:rPr>
              <a:t>commands.ts</a:t>
            </a:r>
            <a:endParaRPr sz="950" b="0" i="0" dirty="0">
              <a:solidFill>
                <a:srgbClr val="34C759"/>
              </a:solidFill>
              <a:latin typeface="Segoe U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40000" y="720000"/>
            <a:ext cx="4680000" cy="5220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40000" y="720000"/>
            <a:ext cx="4680000" cy="144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12000" y="737999"/>
            <a:ext cx="7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AA4444"/>
                </a:solidFill>
                <a:latin typeface="Segoe UI"/>
              </a:rPr>
              <a:t>● ● ●</a:t>
            </a:r>
            <a:endParaRPr sz="1000" b="0" i="0" dirty="0">
              <a:solidFill>
                <a:srgbClr val="AA4444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48000" y="927000"/>
            <a:ext cx="4500000" cy="50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34C759"/>
                </a:solidFill>
                <a:latin typeface="Segoe UI"/>
              </a:rPr>
              <a:t>// cypress/pages/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LoginPage.ts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
export class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LoginPage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 {
  visit() {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cy.visit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('/login'); }
 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getCredentialInput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() {
    return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cy.get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('input[autocomplete="username"]');
  }
 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getPasswordInput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() {
    return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cy.get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('input[autocomplete="current-password"]');
  }
 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getSubmitButton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() {
    return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cy.get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('button[type="submit"]');
  }
 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getErrorMessage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() {
    return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cy.get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('.text-bloom-danger').first();
  }
 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getAdminPanelButton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() {
    return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cy.contains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('a', 'Buka Panel Admin');
  }
  login(credential, password) {
   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this.getCredentialInput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().clear().type(credential);
   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this.getPasswordInput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().clear().type(password);
    </a:t>
            </a:r>
            <a:r>
              <a:rPr sz="900" b="0" i="0" dirty="0" err="1">
                <a:solidFill>
                  <a:srgbClr val="34C759"/>
                </a:solidFill>
                <a:latin typeface="Segoe UI"/>
              </a:rPr>
              <a:t>this.getSubmitButton</a:t>
            </a:r>
            <a:r>
              <a:rPr sz="900" b="0" i="0" dirty="0">
                <a:solidFill>
                  <a:srgbClr val="34C759"/>
                </a:solidFill>
                <a:latin typeface="Segoe UI"/>
              </a:rPr>
              <a:t>().click();
  }
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000" y="720000"/>
            <a:ext cx="2880000" cy="5220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0000" y="720000"/>
            <a:ext cx="2880000" cy="144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52000" y="737999"/>
            <a:ext cx="7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4444"/>
                </a:solidFill>
                <a:latin typeface="Segoe UI"/>
              </a:rPr>
              <a:t>● ● 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8000" y="900000"/>
            <a:ext cx="2700000" cy="50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// cypress/e2e/login.cy.ts
import { LoginPage } from '../pages/LoginPage';
const loginPage = new LoginPage();
describe('TC-UI: Modul Autentikasi', () =&gt; {
  it('TC-UI-01: Login berhasil', () =&gt; {
    cy.fixture('testData').then((data) =&gt; {
      loginPage.visit();
      loginPage.login(
        data.validUser.credential,
        data.validUser.password
      );
      cy.contains('Selamat datang')
        .should('be.visible');
    });
  });
});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VI — UI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Test Cases UI — 16 Automated Test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34769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720000"/>
          <a:ext cx="11520000" cy="45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TC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Skenario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Tipe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Assertion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Login valid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cy.contains('Selamat datang').visible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Login password salah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Negatif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getErrorMessage().contain('salah')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TC-UI-03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Login credential kosong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Negatif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getErrorMessage().visible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Login password kosong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Negatif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url().include('/login')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TC-UI-05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Login admin → tombol Panel Admin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getAdminPanelButton().visible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Tab Register bisa dibuka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getNameInput().visible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TC-UI-07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Register password tidak cocok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Negatif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contains('tidak cocok').visible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Redirect jika sudah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url().eq(baseUrl + '/')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TC-UI-09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Produk tampil di homepage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getProductCards().length &gt;= 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Klik card → product 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url().include('/products/')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TC-UI-11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Tambah ke keranjang → badge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cart badge visible &amp; not empty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Product detail menampilkan galeri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contains('h1', name).visible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TC-UI-13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Keranjang kosong → empty state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contains('Keranjang Kosong')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Keranjang tampil setelah add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Positif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contains(productName).visible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TC-UI-15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Checkout tanpa login → redirect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Negatif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url().include('/login')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TC-UI-16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Qty stepper min 1 (disable)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Negatif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find('button').first().disabled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40000" y="5940000"/>
            <a:ext cx="3960000" cy="28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40000" y="5976000"/>
            <a:ext cx="39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16/16 UI Tests PASS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C759"/>
                </a:solidFill>
                <a:latin typeface="Segoe UI"/>
              </a:rPr>
              <a:t>BAB 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OTOMATISASI PENGUJIAN RESTFUL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420000"/>
            <a:ext cx="7200000" cy="18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Segoe UI"/>
              </a:rPr>
              <a:t>Cypress cy.request() · 18 Test Cases · Status Code, Body, Headers, Time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VII — API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API Test Cases — 18 Automated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720000"/>
          <a:ext cx="11520000" cy="51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TC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Validasi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Hasil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GET /api/products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Array, struktur valid, &lt; 3000ms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GET /api/products?search=anggrek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Filtered — hanya produk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TC-API-03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GET /api/products/1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id=1, price&gt;0, images array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GET /api/products/999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Not found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TC-API-05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GET /api/products/abc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400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Invalid ID validation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POST /api/products (no auth)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Unauthorized — 'ditolak'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TC-API-07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PATCH /api/products/1 (no auth)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Unauthorized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DELETE /api/products/1 (no auth)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Unauthorized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TC-API-09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POST /api/orders (valid)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201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status='DRAFT', totalPrice&gt;0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POST /api/orders (items kosong)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Error message present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TC-API-11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POST /api/orders (qty&gt;stok)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400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Stock insufficient message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GET /api/orders/:id (valid)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Data lengkap, items 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TC-API-13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GET /api/orders/invalid-id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404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Not found message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PATCH status DRAFT→CONFIRMED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status='CONFIRMED'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TC-API-15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PATCH status DRAFT→COMPLETED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422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Invalid transition message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POST /api/auth/login (valid)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User data, no password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TC-API-17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POST /api/auth/login (wrong pw)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Error message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TC-API-18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POST /api/auth/register (duplikat)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'digunakan'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40000" y="5940000"/>
            <a:ext cx="3960000" cy="28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40000" y="5976000"/>
            <a:ext cx="396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18/18 API Tests PASS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C759"/>
                </a:solidFill>
                <a:latin typeface="Segoe UI"/>
              </a:rPr>
              <a:t>BAB VIII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DEFECT &amp; EVALUASI KUALITAS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420000"/>
            <a:ext cx="7200000" cy="18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Segoe UI"/>
              </a:rPr>
              <a:t>Daftar Defect · Severity · Analisis · Retest · Evaluasi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VIII — DEFECT &amp; EVALUASI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Daftar Defect yang Ditemukan &amp; Diperbaiki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720000"/>
          <a:ext cx="11520000" cy="299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Defect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Dampak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Fix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DEF-01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Stock tidak restore saat CANCELLED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Stok permanen berkurang meski pesanan dibatalkan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Tambah increment stok dalam DB transaction saat CANCELLED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✅ Fixed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DEF-02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Orders hilang setelah 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OrderContext in-memory, tidak persist saat reload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Implementasi localStorage persistence + hydrated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✅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DEF-03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API /sessions tidak terproteksi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GET /api/sessions bisa diakses tanpa auth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Tambah admin cookie guard di GET handler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✅ Fixed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DEF-04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POST/PATCH/DELETE products tanpa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Siapa saja bisa tambah/ubah/hapus produk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Implementasi isAdminRequest() guard di semua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✅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DEF-05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Checkout race: redirect ke cart setelah order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clearCart() trigger empty-cart guard → redirect ke /cart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Tambah submittedRef untuk bypass guard post-checkout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✅ Fixed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DEF-06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products/[slug] berisi konten orders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Klik produk → tampil halaman pesanan bukan detail produk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Rewrite products/[slug]/page.tsx dengan konten yang benar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✅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DEF-07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Race condition stok saat concurrent order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Dua user pesan produk sama → stok bisa jadi negatif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Pindahkan validasi stok ke dalam Prisma transaction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✅ Fixed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DEF-08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Encoding rusak di orders/page.tsx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Karakter khusus tampil sebagai karakter rusak di browser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Rewrite file dengan ASCII-safe alternatives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Segoe UI"/>
                        </a:rPr>
                        <a:t>✅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VIII — DEFECT &amp; EVALUASI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Klasifikasi Severity &amp; Evaluasi Kualitas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72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egoe UI"/>
              </a:rPr>
              <a:t>Distribusi Defect Berdasarkan Severity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07999"/>
            <a:ext cx="1080000" cy="7200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1080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1295999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8000" y="1188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egoe UI"/>
              </a:rPr>
              <a:t>Keamanan API, data loss, wrong 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1835999"/>
            <a:ext cx="1080000" cy="7200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6000" y="1908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" y="2124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8000" y="2015999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egoe UI"/>
              </a:rPr>
              <a:t>Race condition, auth bypass, UX breaking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664000"/>
            <a:ext cx="1080000" cy="720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6000" y="2736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" y="2951999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8000" y="2844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egoe UI"/>
              </a:rPr>
              <a:t>Encoding, missing deps, stale closure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491999"/>
            <a:ext cx="1080000" cy="720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6000" y="3563999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" y="3780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8000" y="3671999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egoe UI"/>
              </a:rPr>
              <a:t>Toast ID collision, timer leak, silent fail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80000" y="720000"/>
            <a:ext cx="4500000" cy="54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80000" y="720000"/>
            <a:ext cx="4500000" cy="216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88000" y="737999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📊  Evaluasi Kualitas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000" y="972000"/>
            <a:ext cx="43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✅ Semua 28+ defect berhasil diperbaiki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✅ 52/52 Jest unit tests passing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✅ 37/37 BDD scenarios passing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✅ 16/16 Cypress UI tests siap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✅ 18/18 Cypress API tests siap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✅ Aplikasi live di Oracle Cloud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✅ Admin panel terproteksi 3-factor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✅ Stock management atomic (tx)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⚠️ Video hero lag pada koneksi lambat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⚠️ Cypress tests butuh dev server aktif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D1D1F"/>
                </a:solidFill>
                <a:latin typeface="Segoe UI"/>
              </a:rPr>
              <a:t>⚠️ SQLite belum optimal untuk concurrent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4392000"/>
            <a:ext cx="6840000" cy="172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0000" y="4392000"/>
            <a:ext cx="6840000" cy="180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8000" y="4355998"/>
            <a:ext cx="648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FFFFFF"/>
                </a:solidFill>
                <a:latin typeface="Segoe UI"/>
              </a:rPr>
              <a:t>Ringkasan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Retest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0000" y="4644000"/>
          <a:ext cx="6840000" cy="1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Kategori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Hasil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Success Rate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DEF-01 s/d DEF-28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28 defect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28 fixed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TDD Unit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52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52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BDD Scenarios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37 scenarios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37 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 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Cypress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34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Siap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✅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C759"/>
                </a:solidFill>
                <a:latin typeface="Segoe UI"/>
              </a:rPr>
              <a:t>BAB 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PENUTUP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420000"/>
            <a:ext cx="7200000" cy="18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Segoe UI"/>
              </a:rPr>
              <a:t>Kesimpulan · Rekomendasi · Kontribusi Tim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IX —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Kesimpulan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5580000" cy="1296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720000"/>
            <a:ext cx="90000" cy="1296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792000"/>
            <a:ext cx="53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🌸  Aplikasi Berhasil Dikembangkan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080000"/>
            <a:ext cx="53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Bloom Store — toko bunga premium dengan 9 produk, sistem pesanan lengkap, admin panel terproteksi, dan REST API 10 endpoints berhasil dibangun dan di-deploy ke Oracle Cloud (http://168.110.205.104)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720000"/>
            <a:ext cx="5580000" cy="1296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0000" y="720000"/>
            <a:ext cx="90000" cy="1296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0000" y="792000"/>
            <a:ext cx="53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🧪  TDD Berhasil Diterapkan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1080000"/>
            <a:ext cx="53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Dua fungsi bisnis dikembangkan dengan siklus Red→Green→Refactor. Total 52 unit tests berhasil mengcover 7 independent paths masing-masing fungsi (CC = 7).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2160000"/>
            <a:ext cx="5580000" cy="1296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0000" y="2160000"/>
            <a:ext cx="90000" cy="1296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000" y="2232000"/>
            <a:ext cx="53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🥒  BDD Berhasil Diimplementasikan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2520000"/>
            <a:ext cx="53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37 scenarios dalam 2 file .feature berhasil dieksekusi dengan 124 steps passing. Mencakup skenario positif, negatif, batas, status changes, dan Scenario Outline.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2160000"/>
            <a:ext cx="5580000" cy="1296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0000" y="2160000"/>
            <a:ext cx="90000" cy="1296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0000" y="2232000"/>
            <a:ext cx="53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🔬  Advanced Test Design Lengkap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0" y="2520000"/>
            <a:ext cx="53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State Transition Testing (10 TC, 4 state, diagram lengkap) dan White-box Cyclomatic Complexity (CC=7, CFG, 14 TC) berhasil dirancang dan dieksekusi.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3600000"/>
            <a:ext cx="5580000" cy="1296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0000" y="3600000"/>
            <a:ext cx="90000" cy="1296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0000" y="3671999"/>
            <a:ext cx="53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🤖  Otomatisasi Pengujian Siap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3960000"/>
            <a:ext cx="53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16 Cypress UI tests dengan Page Object Model dan 18 API tests menggunakan cy.request() siap dieksekusi. Mencakup skenario positif, negatif, dan validasi komprehensif.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000" y="3600000"/>
            <a:ext cx="5580000" cy="1296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0000" y="3600000"/>
            <a:ext cx="90000" cy="1296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0000" y="3671999"/>
            <a:ext cx="53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🐛  Defect Management Tuntas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0" y="3960000"/>
            <a:ext cx="53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egoe UI"/>
              </a:rPr>
              <a:t>28+ defect ditemukan melalui audit sistematis — 6 CRITICAL, 11 HIGH, 8 MEDIUM, 3 LOW. Semua berhasil diperbaiki dengan bukti retest.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0399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C759"/>
                </a:solidFill>
                <a:latin typeface="Segoe UI"/>
              </a:rPr>
              <a:t>BAB IX —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80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Rekomendasi &amp; Kontribusi Tim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egoe UI"/>
              </a:rPr>
              <a:t>Bloom Store | Advanced Software Testing &amp; QA | Unismuh Makassar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6660000"/>
            <a:ext cx="3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  <a:latin typeface="Segoe UI"/>
              </a:rPr>
              <a:t>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20000"/>
            <a:ext cx="5580000" cy="306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720000"/>
            <a:ext cx="5580000" cy="180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000" y="683999"/>
            <a:ext cx="5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FFFFFF"/>
                </a:solidFill>
                <a:latin typeface="Segoe UI"/>
              </a:rPr>
              <a:t>Rekomendasi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Segoe UI"/>
              </a:rPr>
              <a:t>Pengembangan</a:t>
            </a:r>
            <a:endParaRPr sz="11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000" y="954000"/>
            <a:ext cx="54000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1D1D1F"/>
                </a:solidFill>
                <a:latin typeface="Segoe UI"/>
              </a:rPr>
              <a:t>🗄️  Migrasi ke PostgreSQL untuk production scale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1D1D1F"/>
                </a:solidFill>
                <a:latin typeface="Segoe UI"/>
              </a:rPr>
              <a:t>☁️  Gunakan CDN (Cloudflare) untuk asset video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1D1D1F"/>
                </a:solidFill>
                <a:latin typeface="Segoe UI"/>
              </a:rPr>
              <a:t>🔒  Implementasi JWT token untuk customer auth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1D1D1F"/>
                </a:solidFill>
                <a:latin typeface="Segoe UI"/>
              </a:rPr>
              <a:t>📱  Buat PWA (Progressive Web App) untuk mobile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1D1D1F"/>
                </a:solidFill>
                <a:latin typeface="Segoe UI"/>
              </a:rPr>
              <a:t>🧪  Tambah load testing dengan k6 atau Artillery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1D1D1F"/>
                </a:solidFill>
                <a:latin typeface="Segoe UI"/>
              </a:rPr>
              <a:t>📊  Integrasikan monitoring dengan Grafana/Prometheus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1D1D1F"/>
                </a:solidFill>
                <a:latin typeface="Segoe UI"/>
              </a:rPr>
              <a:t>🤖  Tambah CI/CD pipeline di GitHub Actions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1D1D1F"/>
                </a:solidFill>
                <a:latin typeface="Segoe UI"/>
              </a:rPr>
              <a:t>🛡️  Implementasi OWASP security headers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720000"/>
            <a:ext cx="5580000" cy="5580000"/>
          </a:xfrm>
          <a:prstGeom prst="rect">
            <a:avLst/>
          </a:prstGeom>
          <a:solidFill>
            <a:srgbClr val="0F2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0000" y="720000"/>
            <a:ext cx="5580000" cy="180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8000" y="690986"/>
            <a:ext cx="5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Segoe UI"/>
              </a:rPr>
              <a:t>Kontribusi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Tim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954000"/>
            <a:ext cx="5580000" cy="125999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0000" y="907199"/>
            <a:ext cx="540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FFFFFF"/>
                </a:solidFill>
                <a:latin typeface="Segoe UI"/>
              </a:rPr>
              <a:t>▸ Ashabul Kahfi (105841108523)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0000" y="1065813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Main Developer &amp; Project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0000" y="1202613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Full-stack development (Frontend + Backend)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0000" y="1339412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GSAP animations &amp; UI/UX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1544399"/>
            <a:ext cx="5580000" cy="125999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1999" y="1486799"/>
            <a:ext cx="540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FFFFFF"/>
                </a:solidFill>
                <a:latin typeface="Segoe UI"/>
              </a:rPr>
              <a:t>▸ </a:t>
            </a:r>
            <a:r>
              <a:rPr sz="950" b="1" i="0" dirty="0" err="1">
                <a:solidFill>
                  <a:srgbClr val="FFFFFF"/>
                </a:solidFill>
                <a:latin typeface="Segoe UI"/>
              </a:rPr>
              <a:t>Marhepi</a:t>
            </a:r>
            <a:r>
              <a:rPr sz="95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950" b="1" i="0" dirty="0" err="1">
                <a:solidFill>
                  <a:srgbClr val="FFFFFF"/>
                </a:solidFill>
                <a:latin typeface="Segoe UI"/>
              </a:rPr>
              <a:t>Rahmadani</a:t>
            </a:r>
            <a:r>
              <a:rPr sz="950" b="1" i="0" dirty="0">
                <a:solidFill>
                  <a:srgbClr val="FFFFFF"/>
                </a:solidFill>
                <a:latin typeface="Segoe UI"/>
              </a:rPr>
              <a:t> (105841109523)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0000" y="1656212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Co-Developer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1793012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Testing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0000" y="1929812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BDD scenario writing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000" y="2134799"/>
            <a:ext cx="5580000" cy="125999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1999" y="2077199"/>
            <a:ext cx="540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▸ Afra Muawiya (105841108423)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0000" y="2246612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Co-Developer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0000" y="2383412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White-box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0000" y="2520212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PPT &amp; laporan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0000" y="2725199"/>
            <a:ext cx="5580000" cy="125999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71999" y="2667599"/>
            <a:ext cx="540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▸ Alyah Saputri Bakri (105841107723)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0000" y="2837012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Co-Developer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0000" y="2973812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F5F5F7"/>
                </a:solidFill>
                <a:latin typeface="Segoe UI"/>
              </a:rPr>
              <a:t>  • Black-box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0000" y="3110612"/>
            <a:ext cx="54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7"/>
                </a:solidFill>
                <a:latin typeface="Segoe UI"/>
              </a:rPr>
              <a:t>  • Defect documentation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00000"/>
            <a:ext cx="12193200" cy="558000"/>
          </a:xfrm>
          <a:prstGeom prst="rect">
            <a:avLst/>
          </a:prstGeom>
          <a:solidFill>
            <a:srgbClr val="0F2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0000" y="1080000"/>
            <a:ext cx="25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 dirty="0">
                <a:solidFill>
                  <a:srgbClr val="FFFFFF"/>
                </a:solidFill>
                <a:latin typeface="Segoe UI"/>
              </a:rPr>
              <a:t>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16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4C759"/>
                </a:solidFill>
                <a:latin typeface="Segoe UI"/>
              </a:rPr>
              <a:t>Bloom Store — Advanced Software Testing and Quality Assurance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0" y="3600000"/>
            <a:ext cx="6480000" cy="180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000" y="370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5F7"/>
                </a:solidFill>
                <a:latin typeface="Segoe UI"/>
              </a:rPr>
              <a:t>52 Unit Tests  ·  37 BDD Scenarios  ·  16 UI Tests  ·  18 API Tests
http://168.110.205.104  |  github.com/Kahfi10/bloom-store-project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336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Segoe UI"/>
              </a:rPr>
              <a:t>Ashabul Kahfi · Marhepi Rahmadani · Afra Muawiya · Alyah Saputri Bakri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4974</Words>
  <Application>Microsoft Office PowerPoint</Application>
  <PresentationFormat>Custom</PresentationFormat>
  <Paragraphs>882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Ashabul Kahfi</cp:lastModifiedBy>
  <cp:revision>3</cp:revision>
  <dcterms:created xsi:type="dcterms:W3CDTF">2013-01-27T09:14:16Z</dcterms:created>
  <dcterms:modified xsi:type="dcterms:W3CDTF">2026-07-29T08:07:47Z</dcterms:modified>
  <cp:category/>
</cp:coreProperties>
</file>